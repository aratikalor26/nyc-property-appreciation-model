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1Ab/MuV7Jas6O93ig/wZOdqt4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c2a38ea21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dc2a38ea21_1_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c2a38ea21_1_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B47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"/>
          <p:cNvSpPr/>
          <p:nvPr/>
        </p:nvSpPr>
        <p:spPr>
          <a:xfrm>
            <a:off x="10789920" y="0"/>
            <a:ext cx="1371600" cy="164592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BUS 9430  •  FINAL PROJECT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1965960"/>
            <a:ext cx="10515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lang="en-US" sz="5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Predicting NYC Residential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lang="en-US" sz="5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Property Appreciation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50" y="4160525"/>
            <a:ext cx="1032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i="1"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Can neighborhood factors help predict which NYC residential properties will see stronger appreciation over time?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5212080"/>
            <a:ext cx="1097280" cy="36576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Shreya Karki  •  Arati Kalor  •  Ayushman Shrestha  •  Chenbin Wu  •  Ali Adnan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57150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E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8C4E0"/>
                </a:solidFill>
                <a:latin typeface="Calibri"/>
                <a:ea typeface="Calibri"/>
                <a:cs typeface="Calibri"/>
                <a:sym typeface="Calibri"/>
              </a:rPr>
              <a:t>Spring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 9430  |  Final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49573" y="758050"/>
            <a:ext cx="112461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093"/>
              <a:buFont typeface="Calibri"/>
              <a:buNone/>
            </a:pPr>
            <a:r>
              <a:rPr b="1" lang="en-US" sz="3143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Data &amp; Modeling Approach</a:t>
            </a:r>
            <a:endParaRPr i="0" sz="3143" u="none" cap="none" strike="noStrike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152450" y="1670775"/>
            <a:ext cx="3065400" cy="14058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38840" rotWithShape="0" algn="bl" dir="5400000" dist="34710">
              <a:srgbClr val="000000">
                <a:alpha val="10200"/>
              </a:srgbClr>
            </a:outerShdw>
          </a:effectLst>
        </p:spPr>
        <p:txBody>
          <a:bodyPr anchorCtr="0" anchor="ctr" bIns="93700" lIns="93700" spcFirstLastPara="1" rIns="93700" wrap="square" tIns="9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152450" y="1670775"/>
            <a:ext cx="86100" cy="14058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ctr" bIns="93700" lIns="93700" spcFirstLastPara="1" rIns="93700" wrap="square" tIns="9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367646" y="1905141"/>
            <a:ext cx="2742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80"/>
              <a:buFont typeface="Georgia"/>
              <a:buNone/>
            </a:pPr>
            <a:r>
              <a:rPr b="1" i="0" lang="en-US" sz="328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760K</a:t>
            </a:r>
            <a:endParaRPr b="0" i="0" sz="32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367568" y="2420507"/>
            <a:ext cx="27429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93"/>
              <a:buFont typeface="Calibri"/>
              <a:buNone/>
            </a:pPr>
            <a:r>
              <a:rPr b="0" i="0" lang="en-US" sz="13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NYC sales</a:t>
            </a:r>
            <a:r>
              <a:rPr lang="en-US" sz="13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starting point</a:t>
            </a:r>
            <a:endParaRPr b="0" i="0" sz="13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432995" y="1670775"/>
            <a:ext cx="3065400" cy="14058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38840" rotWithShape="0" algn="bl" dir="5400000" dist="34710">
              <a:srgbClr val="000000">
                <a:alpha val="10200"/>
              </a:srgbClr>
            </a:outerShdw>
          </a:effectLst>
        </p:spPr>
        <p:txBody>
          <a:bodyPr anchorCtr="0" anchor="ctr" bIns="93700" lIns="93700" spcFirstLastPara="1" rIns="93700" wrap="square" tIns="9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432995" y="1670775"/>
            <a:ext cx="86100" cy="14058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ctr" bIns="93700" lIns="93700" spcFirstLastPara="1" rIns="93700" wrap="square" tIns="9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701947" y="1905141"/>
            <a:ext cx="2742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80"/>
              <a:buFont typeface="Georgia"/>
              <a:buNone/>
            </a:pPr>
            <a:r>
              <a:rPr b="1" i="0" lang="en-US" sz="328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22,623</a:t>
            </a:r>
            <a:endParaRPr b="0" i="0" sz="32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325507" y="2373564"/>
            <a:ext cx="32805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93"/>
              <a:buFont typeface="Calibri"/>
              <a:buNone/>
            </a:pPr>
            <a:r>
              <a:rPr lang="en-US" sz="12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Paired sales after cleaning &amp; filters</a:t>
            </a:r>
            <a:endParaRPr b="0" i="0" sz="9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713541" y="1670775"/>
            <a:ext cx="3065400" cy="14058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38840" rotWithShape="0" algn="bl" dir="5400000" dist="34710">
              <a:srgbClr val="000000">
                <a:alpha val="10200"/>
              </a:srgbClr>
            </a:outerShdw>
          </a:effectLst>
        </p:spPr>
        <p:txBody>
          <a:bodyPr anchorCtr="0" anchor="ctr" bIns="93700" lIns="93700" spcFirstLastPara="1" rIns="93700" wrap="square" tIns="9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713541" y="1670775"/>
            <a:ext cx="86100" cy="14058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ctr" bIns="93700" lIns="93700" spcFirstLastPara="1" rIns="93700" wrap="square" tIns="9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907208" y="1764692"/>
            <a:ext cx="2742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80"/>
              <a:buFont typeface="Georgia"/>
              <a:buNone/>
            </a:pPr>
            <a:r>
              <a:rPr b="1" i="0" lang="en-US" sz="328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2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907208" y="2398007"/>
            <a:ext cx="27429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93"/>
              <a:buFont typeface="Calibri"/>
              <a:buNone/>
            </a:pPr>
            <a:r>
              <a:rPr b="0" i="0" lang="en-US" sz="123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Property segments</a:t>
            </a:r>
            <a:r>
              <a:rPr lang="en-US" sz="12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3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modeled</a:t>
            </a:r>
            <a:r>
              <a:rPr lang="en-US" sz="12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3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separately</a:t>
            </a:r>
            <a:endParaRPr b="0" i="0" sz="12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71423" y="3510350"/>
            <a:ext cx="11246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13"/>
              <a:buFont typeface="Georgia"/>
              <a:buNone/>
            </a:pPr>
            <a:r>
              <a:rPr b="1" lang="en-US" sz="1913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Why model property types separately?</a:t>
            </a:r>
            <a:endParaRPr b="0" i="0" sz="19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71423" y="3944662"/>
            <a:ext cx="112461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367"/>
              <a:buFont typeface="Calibri"/>
              <a:buNone/>
            </a:pPr>
            <a:r>
              <a:rPr lang="en-US" sz="1367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Return behavior differs substantially across property types, so combining them into one model would hide meaningful patterns.</a:t>
            </a:r>
            <a:endParaRPr b="0" i="0" sz="13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96432" y="4694144"/>
            <a:ext cx="2670900" cy="1405800"/>
          </a:xfrm>
          <a:prstGeom prst="rect">
            <a:avLst/>
          </a:prstGeom>
          <a:solidFill>
            <a:srgbClr val="FFFFFF"/>
          </a:solidFill>
          <a:ln cap="flat" cmpd="sng" w="1735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700" lIns="93700" spcFirstLastPara="1" rIns="93700" wrap="square" tIns="9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724" y="4881577"/>
            <a:ext cx="421724" cy="4217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1246167" y="4881577"/>
            <a:ext cx="1827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93"/>
              <a:buFont typeface="Calibri"/>
              <a:buNone/>
            </a:pPr>
            <a:r>
              <a:rPr b="1" i="0" lang="en-US" sz="1193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TWO-FAMILY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246167" y="5115869"/>
            <a:ext cx="1827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60"/>
              <a:buFont typeface="Georgia"/>
              <a:buNone/>
            </a:pPr>
            <a:r>
              <a:rPr b="1" i="0" lang="en-US" sz="246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28.3%</a:t>
            </a:r>
            <a:endParaRPr b="0" i="0" sz="24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71425" y="5584450"/>
            <a:ext cx="25959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7"/>
              <a:buFont typeface="Calibri"/>
              <a:buNone/>
            </a:pP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Typical annual appreciation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354798" y="4694144"/>
            <a:ext cx="2670900" cy="1405800"/>
          </a:xfrm>
          <a:prstGeom prst="rect">
            <a:avLst/>
          </a:prstGeom>
          <a:solidFill>
            <a:srgbClr val="FFFFFF"/>
          </a:solidFill>
          <a:ln cap="flat" cmpd="sng" w="1735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700" lIns="93700" spcFirstLastPara="1" rIns="93700" wrap="square" tIns="9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9091" y="4881577"/>
            <a:ext cx="421724" cy="42172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4104534" y="4881577"/>
            <a:ext cx="1827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93"/>
              <a:buFont typeface="Calibri"/>
              <a:buNone/>
            </a:pPr>
            <a:r>
              <a:rPr b="1" i="0" lang="en-US" sz="1193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ONE-FAMILY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104534" y="5115869"/>
            <a:ext cx="1827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60"/>
              <a:buFont typeface="Georgia"/>
              <a:buNone/>
            </a:pPr>
            <a:r>
              <a:rPr b="1" i="0" lang="en-US" sz="246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23.0%</a:t>
            </a:r>
            <a:endParaRPr b="0" i="0" sz="24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213165" y="4694144"/>
            <a:ext cx="2670900" cy="1405800"/>
          </a:xfrm>
          <a:prstGeom prst="rect">
            <a:avLst/>
          </a:prstGeom>
          <a:solidFill>
            <a:srgbClr val="FFFFFF"/>
          </a:solidFill>
          <a:ln cap="flat" cmpd="sng" w="1735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700" lIns="93700" spcFirstLastPara="1" rIns="93700" wrap="square" tIns="9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7457" y="4881577"/>
            <a:ext cx="421724" cy="4217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6962900" y="4881577"/>
            <a:ext cx="1827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93"/>
              <a:buFont typeface="Calibri"/>
              <a:buNone/>
            </a:pPr>
            <a:r>
              <a:rPr b="1" i="0" lang="en-US" sz="1193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CONDO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962900" y="5115869"/>
            <a:ext cx="1827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60"/>
              <a:buFont typeface="Georgia"/>
              <a:buNone/>
            </a:pPr>
            <a:r>
              <a:rPr b="1" i="0" lang="en-US" sz="246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6.1%</a:t>
            </a:r>
            <a:endParaRPr b="0" i="0" sz="24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071531" y="4694144"/>
            <a:ext cx="2670900" cy="1405800"/>
          </a:xfrm>
          <a:prstGeom prst="rect">
            <a:avLst/>
          </a:prstGeom>
          <a:solidFill>
            <a:srgbClr val="FFFFFF"/>
          </a:solidFill>
          <a:ln cap="flat" cmpd="sng" w="1735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700" lIns="93700" spcFirstLastPara="1" rIns="93700" wrap="square" tIns="9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05824" y="4881577"/>
            <a:ext cx="421724" cy="42172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9821267" y="4881577"/>
            <a:ext cx="1827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93"/>
              <a:buFont typeface="Calibri"/>
              <a:buNone/>
            </a:pPr>
            <a:r>
              <a:rPr b="1" i="0" lang="en-US" sz="1193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CO-OP</a:t>
            </a:r>
            <a:endParaRPr b="0" i="0" sz="11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821267" y="5115869"/>
            <a:ext cx="1827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60"/>
              <a:buFont typeface="Georgia"/>
              <a:buNone/>
            </a:pPr>
            <a:r>
              <a:rPr b="1" i="0" lang="en-US" sz="246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5.9%</a:t>
            </a:r>
            <a:endParaRPr b="0" i="0" sz="24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392300" y="5584450"/>
            <a:ext cx="25959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7"/>
              <a:buFont typeface="Calibri"/>
              <a:buNone/>
            </a:pP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Typical annual appreciation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250662" y="5584450"/>
            <a:ext cx="25959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7"/>
              <a:buFont typeface="Calibri"/>
              <a:buNone/>
            </a:pP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Typical annual appreciation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109050" y="5584450"/>
            <a:ext cx="25959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7"/>
              <a:buFont typeface="Calibri"/>
              <a:buNone/>
            </a:pP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Typical annual appreciation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94353" y="86868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Target definition &amp; feature set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50" y="1691650"/>
            <a:ext cx="5349300" cy="40041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50" y="1691650"/>
            <a:ext cx="5349300" cy="696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14412" y="2324804"/>
            <a:ext cx="4251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100"/>
              <a:buFont typeface="Calibri"/>
              <a:buNone/>
            </a:pPr>
            <a:r>
              <a:rPr b="1" lang="en-US" sz="24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TARGET VARIABLE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14512" y="2979088"/>
            <a:ext cx="46176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Georgia"/>
              <a:buNone/>
            </a:pPr>
            <a:r>
              <a:rPr b="1" lang="en-US" sz="13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Top-performing properties</a:t>
            </a:r>
            <a:r>
              <a:rPr b="1" lang="en-US" sz="13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= top 25% within segment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14412" y="3429831"/>
            <a:ext cx="46176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Annualized return</a:t>
            </a: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 (not raw price change) so a 2-year hold and a 10-year hold compare fairly.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14412" y="4118293"/>
            <a:ext cx="46176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Threshold set per segment</a:t>
            </a: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, not globally — each property is compared  against its peers.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263678" y="1691650"/>
            <a:ext cx="5349300" cy="40041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263678" y="1691650"/>
            <a:ext cx="5349300" cy="696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629440" y="2325386"/>
            <a:ext cx="4251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100"/>
              <a:buFont typeface="Calibri"/>
              <a:buNone/>
            </a:pPr>
            <a:r>
              <a:rPr b="1" lang="en-US" sz="24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FEATURES USED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40" y="2958108"/>
            <a:ext cx="292609" cy="27853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7040922" y="2905883"/>
            <a:ext cx="43434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Crime count</a:t>
            </a:r>
            <a:r>
              <a:rPr lang="en-US" sz="12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  —  </a:t>
            </a:r>
            <a:r>
              <a:rPr lang="en-US" sz="12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Neighborhood crime activity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40" y="3496828"/>
            <a:ext cx="292609" cy="27853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7040922" y="3444602"/>
            <a:ext cx="43434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Subway distance</a:t>
            </a:r>
            <a:r>
              <a:rPr lang="en-US" sz="12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  —  </a:t>
            </a:r>
            <a:r>
              <a:rPr lang="en-US" sz="12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Distance to nearest subway station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40" y="4062600"/>
            <a:ext cx="292609" cy="27853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7040922" y="4010375"/>
            <a:ext cx="43434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Near subway flag</a:t>
            </a:r>
            <a:r>
              <a:rPr lang="en-US" sz="12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  —  </a:t>
            </a:r>
            <a:r>
              <a:rPr lang="en-US" sz="12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Whether property is within 0.5 km of a station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40" y="4628373"/>
            <a:ext cx="292609" cy="27853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7040922" y="4576148"/>
            <a:ext cx="43434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Borough</a:t>
            </a:r>
            <a:r>
              <a:rPr lang="en-US" sz="12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  —  </a:t>
            </a:r>
            <a:r>
              <a:rPr lang="en-US" sz="12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NYC borough location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03" y="5707690"/>
            <a:ext cx="110643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03" y="579913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1142963" y="5707690"/>
            <a:ext cx="1033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Income was evaluated but excluded due to incomplete neighborhood coverage (~70% missing after merge).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48638" y="633734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 9430  |  Final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0979846" y="6356391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/ 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03  •  ONE-FAMILY DWELLINGS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Decision Tree leads at AUC 0.62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76065" y="1920205"/>
            <a:ext cx="3657600" cy="7773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76065" y="1920205"/>
            <a:ext cx="73200" cy="7773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04665" y="1965925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8,744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404800" y="1965925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Properties analyzed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76065" y="2788885"/>
            <a:ext cx="3657600" cy="7773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76065" y="2788885"/>
            <a:ext cx="73200" cy="7773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04665" y="2834605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23.0%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404800" y="2834600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High-return threshold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76065" y="3657565"/>
            <a:ext cx="3657600" cy="7773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76065" y="3657565"/>
            <a:ext cx="73200" cy="7773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04665" y="3703285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1.14×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404800" y="3703275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Top decile lift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572000" y="1572222"/>
            <a:ext cx="704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 Comparison — AUC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48640" y="5029200"/>
            <a:ext cx="362102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77240" y="516636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900"/>
              <a:buFont typeface="Calibri"/>
              <a:buNone/>
            </a:pPr>
            <a:r>
              <a:rPr b="1" lang="en-US" sz="13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BEST MODEL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77240" y="5394960"/>
            <a:ext cx="3255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Decision Tree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77240" y="5760715"/>
            <a:ext cx="3255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Highest AUC + 64% recall — finds high-return homes without flagging everything.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352544" y="5029200"/>
            <a:ext cx="362102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581144" y="516636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900"/>
              <a:buFont typeface="Calibri"/>
              <a:buNone/>
            </a:pPr>
            <a:r>
              <a:rPr b="1" lang="en-US" sz="13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WATCH OUT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581144" y="5394960"/>
            <a:ext cx="3255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Gradient Boosting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81144" y="5806440"/>
            <a:ext cx="3255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75% accuracy, but recall of 1% — predicts almost everything as low-return. Useless for screening.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156448" y="5029200"/>
            <a:ext cx="362102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385048" y="516636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900"/>
              <a:buFont typeface="Calibri"/>
              <a:buNone/>
            </a:pPr>
            <a:r>
              <a:rPr b="1" lang="en-US" sz="13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BUSINESS LIFT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385048" y="5394960"/>
            <a:ext cx="3255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14% edge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8385048" y="5806440"/>
            <a:ext cx="3255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Top-decile predicted properties contain 14% more high-return homes than random selection.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 9430  |  Final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3290" y="1967172"/>
            <a:ext cx="7159700" cy="2786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04  •  TWO-FAMILY DWELLINGS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Logistic Regression wins; borough dominates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30353" y="1920243"/>
            <a:ext cx="3657600" cy="7773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30353" y="1920243"/>
            <a:ext cx="73200" cy="7773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58953" y="1965963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5,675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450592" y="1965963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Properties analyzed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30353" y="2788923"/>
            <a:ext cx="3657600" cy="7773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30353" y="2788923"/>
            <a:ext cx="73200" cy="7773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58953" y="2834642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28.3%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450592" y="2834642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High-return threshold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30353" y="3657603"/>
            <a:ext cx="3657600" cy="7773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30353" y="3657603"/>
            <a:ext cx="73200" cy="7773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58953" y="3703323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0.76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450592" y="3703323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Recall — catches high-return homes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572000" y="169164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Feature Importance — Logistic Regression (|coef|)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48640" y="5029200"/>
            <a:ext cx="362102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77240" y="516636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900"/>
              <a:buFont typeface="Calibri"/>
              <a:buNone/>
            </a:pPr>
            <a:r>
              <a:rPr b="1" lang="en-US" sz="13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TOP DRIVER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777240" y="5394960"/>
            <a:ext cx="3255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Borough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77240" y="5806440"/>
            <a:ext cx="3255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Where the home is matters more than how close to a subway it is.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352544" y="5029200"/>
            <a:ext cx="362102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581144" y="516636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900"/>
              <a:buFont typeface="Calibri"/>
              <a:buNone/>
            </a:pPr>
            <a:r>
              <a:rPr b="1" lang="en-US" sz="13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SURPRISE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581144" y="5394960"/>
            <a:ext cx="3255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Manhattan lags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581144" y="5806440"/>
            <a:ext cx="3255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Bronx &amp; Brooklyn averaged 20% returns; Manhattan averaged just 6%.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8156448" y="5029200"/>
            <a:ext cx="362102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8385048" y="516636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900"/>
              <a:buFont typeface="Calibri"/>
              <a:buNone/>
            </a:pPr>
            <a:r>
              <a:rPr b="1" lang="en-US" sz="13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USE WITH CARE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8385048" y="5394960"/>
            <a:ext cx="3255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Wide net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385048" y="5806440"/>
            <a:ext cx="3255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76% recall but 28% precision — best as a screening tool, not a final filter.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 9430  |  Final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/ 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740" y="2087850"/>
            <a:ext cx="6852707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c2a38ea21_1_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05  •  CO-OP DWELLINGS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dc2a38ea21_1_2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Where to look — model-ranked neighborhoods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dc2a38ea21_1_2"/>
          <p:cNvSpPr/>
          <p:nvPr/>
        </p:nvSpPr>
        <p:spPr>
          <a:xfrm>
            <a:off x="530353" y="1920243"/>
            <a:ext cx="3657600" cy="7773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c2a38ea21_1_2"/>
          <p:cNvSpPr/>
          <p:nvPr/>
        </p:nvSpPr>
        <p:spPr>
          <a:xfrm>
            <a:off x="530353" y="1920243"/>
            <a:ext cx="73200" cy="7773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c2a38ea21_1_2"/>
          <p:cNvSpPr/>
          <p:nvPr/>
        </p:nvSpPr>
        <p:spPr>
          <a:xfrm>
            <a:off x="758953" y="1965963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4,044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dc2a38ea21_1_2"/>
          <p:cNvSpPr/>
          <p:nvPr/>
        </p:nvSpPr>
        <p:spPr>
          <a:xfrm>
            <a:off x="2450592" y="1965963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Properties analyzed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dc2a38ea21_1_2"/>
          <p:cNvSpPr/>
          <p:nvPr/>
        </p:nvSpPr>
        <p:spPr>
          <a:xfrm>
            <a:off x="530353" y="2788923"/>
            <a:ext cx="3657600" cy="7773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c2a38ea21_1_2"/>
          <p:cNvSpPr/>
          <p:nvPr/>
        </p:nvSpPr>
        <p:spPr>
          <a:xfrm>
            <a:off x="530353" y="2788923"/>
            <a:ext cx="73200" cy="7773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c2a38ea21_1_2"/>
          <p:cNvSpPr/>
          <p:nvPr/>
        </p:nvSpPr>
        <p:spPr>
          <a:xfrm>
            <a:off x="758953" y="2834642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0.69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c2a38ea21_1_2"/>
          <p:cNvSpPr/>
          <p:nvPr/>
        </p:nvSpPr>
        <p:spPr>
          <a:xfrm>
            <a:off x="2450592" y="2834642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AUC — strongest of any segment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dc2a38ea21_1_2"/>
          <p:cNvSpPr/>
          <p:nvPr/>
        </p:nvSpPr>
        <p:spPr>
          <a:xfrm>
            <a:off x="530353" y="3657603"/>
            <a:ext cx="3657600" cy="7773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dc2a38ea21_1_2"/>
          <p:cNvSpPr/>
          <p:nvPr/>
        </p:nvSpPr>
        <p:spPr>
          <a:xfrm>
            <a:off x="530353" y="3657603"/>
            <a:ext cx="73200" cy="7773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c2a38ea21_1_2"/>
          <p:cNvSpPr/>
          <p:nvPr/>
        </p:nvSpPr>
        <p:spPr>
          <a:xfrm>
            <a:off x="758953" y="3703323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Top 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c2a38ea21_1_2"/>
          <p:cNvSpPr/>
          <p:nvPr/>
        </p:nvSpPr>
        <p:spPr>
          <a:xfrm>
            <a:off x="2450592" y="3703323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Neighborhoods ranked for investors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dc2a38ea21_1_2"/>
          <p:cNvSpPr/>
          <p:nvPr/>
        </p:nvSpPr>
        <p:spPr>
          <a:xfrm>
            <a:off x="4572000" y="169164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Top 10 Predicted High-Appreciation Co-op Neighborhoods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dc2a38ea21_1_2"/>
          <p:cNvSpPr/>
          <p:nvPr/>
        </p:nvSpPr>
        <p:spPr>
          <a:xfrm>
            <a:off x="548640" y="5029200"/>
            <a:ext cx="362102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c2a38ea21_1_2"/>
          <p:cNvSpPr/>
          <p:nvPr/>
        </p:nvSpPr>
        <p:spPr>
          <a:xfrm>
            <a:off x="777240" y="516636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THE PATTERN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dc2a38ea21_1_2"/>
          <p:cNvSpPr/>
          <p:nvPr/>
        </p:nvSpPr>
        <p:spPr>
          <a:xfrm>
            <a:off x="777240" y="5394960"/>
            <a:ext cx="3255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Outer boroughs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dc2a38ea21_1_2"/>
          <p:cNvSpPr/>
          <p:nvPr/>
        </p:nvSpPr>
        <p:spPr>
          <a:xfrm>
            <a:off x="777240" y="5761222"/>
            <a:ext cx="3255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Every top-10 neighborhood is in Queens, Staten Island, or the Bronx. Not a single Manhattan or Brooklyn area made the list.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dc2a38ea21_1_2"/>
          <p:cNvSpPr/>
          <p:nvPr/>
        </p:nvSpPr>
        <p:spPr>
          <a:xfrm>
            <a:off x="4352544" y="5029200"/>
            <a:ext cx="362102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c2a38ea21_1_2"/>
          <p:cNvSpPr/>
          <p:nvPr/>
        </p:nvSpPr>
        <p:spPr>
          <a:xfrm>
            <a:off x="4581144" y="516636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WHAT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dc2a38ea21_1_2"/>
          <p:cNvSpPr/>
          <p:nvPr/>
        </p:nvSpPr>
        <p:spPr>
          <a:xfrm>
            <a:off x="4581144" y="5394960"/>
            <a:ext cx="3255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Crime + borough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dc2a38ea21_1_2"/>
          <p:cNvSpPr/>
          <p:nvPr/>
        </p:nvSpPr>
        <p:spPr>
          <a:xfrm>
            <a:off x="4581144" y="5806440"/>
            <a:ext cx="3255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Safety carries the strongest negative signal. Subway access showed mixed effects — not a clear driver.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dc2a38ea21_1_2"/>
          <p:cNvSpPr/>
          <p:nvPr/>
        </p:nvSpPr>
        <p:spPr>
          <a:xfrm>
            <a:off x="8156448" y="5029200"/>
            <a:ext cx="362102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c2a38ea21_1_2"/>
          <p:cNvSpPr/>
          <p:nvPr/>
        </p:nvSpPr>
        <p:spPr>
          <a:xfrm>
            <a:off x="8385048" y="516636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WHAT'S MISSING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dc2a38ea21_1_2"/>
          <p:cNvSpPr/>
          <p:nvPr/>
        </p:nvSpPr>
        <p:spPr>
          <a:xfrm>
            <a:off x="8385048" y="5394960"/>
            <a:ext cx="3255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Building details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dc2a38ea21_1_2"/>
          <p:cNvSpPr/>
          <p:nvPr/>
        </p:nvSpPr>
        <p:spPr>
          <a:xfrm>
            <a:off x="8385048" y="5806440"/>
            <a:ext cx="3255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Maintenance fees, board rules, and condition aren't in our data — investors still need to do building-level homework.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dc2a38ea21_1_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 9430  | 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dc2a38ea21_1_2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g3dc2a38ea21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450" y="2069475"/>
            <a:ext cx="7040874" cy="2740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06  •  CONDO DWELLINGS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The exception — neighborhood signal breaks down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30353" y="1920243"/>
            <a:ext cx="3657600" cy="7773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30353" y="1920243"/>
            <a:ext cx="73200" cy="7773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58953" y="1965963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2,899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2450592" y="1965963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Properties analyzed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30353" y="2788923"/>
            <a:ext cx="3657600" cy="7773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30353" y="2788923"/>
            <a:ext cx="73200" cy="7773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58953" y="2834642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6.1%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2450592" y="2834642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High-return threshold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30353" y="3657603"/>
            <a:ext cx="3657600" cy="7773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30353" y="3657603"/>
            <a:ext cx="73200" cy="7773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758953" y="3703323"/>
            <a:ext cx="1691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0.567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2450592" y="3703323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Best AUC — barely above coin flip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572000" y="169164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 Comparison — All four models near coin-flip baseline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48640" y="5029200"/>
            <a:ext cx="362102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77240" y="516636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900"/>
              <a:buFont typeface="Calibri"/>
              <a:buNone/>
            </a:pPr>
            <a:r>
              <a:rPr b="1" lang="en-US" sz="13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THE FINDING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77240" y="5394960"/>
            <a:ext cx="3255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 reliable signal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77240" y="5806440"/>
            <a:ext cx="3255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Best AUC = 0.567 — barely better than guessing. Logistic Regression scored 0.498, literally worse than random.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352544" y="5029200"/>
            <a:ext cx="362102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581144" y="516636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900"/>
              <a:buFont typeface="Calibri"/>
              <a:buNone/>
            </a:pPr>
            <a:r>
              <a:rPr b="1" lang="en-US" sz="13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581144" y="5394960"/>
            <a:ext cx="3255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Already priced in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581144" y="5806440"/>
            <a:ext cx="3255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Manhattan ranked LAST for condo appreciation (~1%). Premium neighborhoods have premium entry prices that suppress future gains.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156448" y="5029200"/>
            <a:ext cx="362102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8385048" y="516636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900"/>
              <a:buFont typeface="Calibri"/>
              <a:buNone/>
            </a:pPr>
            <a:r>
              <a:rPr b="1" lang="en-US" sz="13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STILL USEFUL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385048" y="5394960"/>
            <a:ext cx="3255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Modest screening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385048" y="5806440"/>
            <a:ext cx="3255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Top 30% by predicted score contains 24–38% more high-return condos than random — a small but real edge.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 9430  |  Final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 / 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1152" y="2026913"/>
            <a:ext cx="6852707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/>
          <p:nvPr/>
        </p:nvSpPr>
        <p:spPr>
          <a:xfrm>
            <a:off x="548640" y="4114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07  •  CROSS-SEGMENT PATTERNS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48640" y="685800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Three findings hold across all models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48640" y="1691640"/>
            <a:ext cx="594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Average Annualized Return by Borough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766560" y="1691640"/>
            <a:ext cx="4846200" cy="12801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766560" y="1691640"/>
            <a:ext cx="73200" cy="12801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6995160" y="1828800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D4A14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635240" y="1828800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Outer boroughs win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7635240" y="2240280"/>
            <a:ext cx="384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50"/>
              <a:buFont typeface="Calibri"/>
              <a:buNone/>
            </a:pPr>
            <a:r>
              <a:rPr lang="en-US" sz="135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Bronx, Queens, and Brooklyn all beat Manhattan across every segment. Premium ≠ high-growth.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766560" y="3108960"/>
            <a:ext cx="4846200" cy="12801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766560" y="3108960"/>
            <a:ext cx="73200" cy="12801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995160" y="3246120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D4A14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7635240" y="3246120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Crime matters more than transit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7635240" y="3657600"/>
            <a:ext cx="384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50"/>
              <a:buFont typeface="Calibri"/>
              <a:buNone/>
            </a:pPr>
            <a:r>
              <a:rPr lang="en-US" sz="135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Crime ranked top-3 in every model. Subway distance — expected to dominate — barely registered.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766560" y="4526280"/>
            <a:ext cx="4846200" cy="1280100"/>
          </a:xfrm>
          <a:prstGeom prst="rect">
            <a:avLst/>
          </a:prstGeom>
          <a:solidFill>
            <a:srgbClr val="EAF1F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766560" y="4526280"/>
            <a:ext cx="73200" cy="1280100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995160" y="4663440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D4A14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635240" y="4663440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Segments are fundamentally different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7635240" y="5074920"/>
            <a:ext cx="384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138"/>
              </a:buClr>
              <a:buSzPts val="1150"/>
              <a:buFont typeface="Calibri"/>
              <a:buNone/>
            </a:pPr>
            <a:r>
              <a:rPr lang="en-US" sz="135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Two-family responds to neighborhood; condos don't (already priced in). A 6% return is elite for one, a disappointment for another.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48640" y="5897880"/>
            <a:ext cx="594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1" lang="en-US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Manhattan averages just 1.2% — outer boroughs deliver 10–18×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57200" y="64465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 9430  |  Final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11064240" y="644652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 / 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225" y="2118390"/>
            <a:ext cx="5609242" cy="353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B47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/>
          <p:nvPr/>
        </p:nvSpPr>
        <p:spPr>
          <a:xfrm>
            <a:off x="10789920" y="0"/>
            <a:ext cx="1371600" cy="164592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08  •  WRAPPING 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Who benefits, what's missing, what's next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11480" y="1737360"/>
            <a:ext cx="36576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11480" y="1737360"/>
            <a:ext cx="3657600" cy="73152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9" name="Google Shape;2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1031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/>
          <p:nvPr/>
        </p:nvSpPr>
        <p:spPr>
          <a:xfrm>
            <a:off x="1371600" y="2221965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WHO BENEFITS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777240" y="26974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Decision-support tool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777240" y="3108965"/>
            <a:ext cx="31089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Investors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Screen 200 candidates down to 50 worth deeper analysis.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Buyers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Challenge assumptions about premium markets.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Lenders &amp; developers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Assess collateral quality and demand patterns.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251960" y="1737360"/>
            <a:ext cx="36576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251960" y="1737360"/>
            <a:ext cx="3657600" cy="73152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5" name="Google Shape;27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21031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/>
          <p:nvPr/>
        </p:nvSpPr>
        <p:spPr>
          <a:xfrm>
            <a:off x="5212080" y="2221965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4617720" y="26974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Honest constraints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526283" y="3108965"/>
            <a:ext cx="31089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Crime is borough-level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All of Brooklyn gets one score, regardless of neighborhood.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Income excluded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70% missing values after merging.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Property details missing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No building age, sqft, school quality, or condition.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8092440" y="1737360"/>
            <a:ext cx="36576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8092440" y="1737360"/>
            <a:ext cx="3657600" cy="73152"/>
          </a:xfrm>
          <a:prstGeom prst="rect">
            <a:avLst/>
          </a:prstGeom>
          <a:solidFill>
            <a:srgbClr val="D4A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200" y="21031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9"/>
          <p:cNvSpPr/>
          <p:nvPr/>
        </p:nvSpPr>
        <p:spPr>
          <a:xfrm>
            <a:off x="9052560" y="21488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D4A14A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8458200" y="2628905"/>
            <a:ext cx="310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Path to AUC 0.75+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8458200" y="3154675"/>
            <a:ext cx="31548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Granular crime 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Census-tract or ZIP-level instead of borough.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Recover income coverage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Use NTA-level Census data with better matching.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Add property features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138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1A2138"/>
                </a:solidFill>
                <a:latin typeface="Calibri"/>
                <a:ea typeface="Calibri"/>
                <a:cs typeface="Calibri"/>
                <a:sym typeface="Calibri"/>
              </a:rPr>
              <a:t>Building age, sqft, schools — likely the biggest unlock.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14A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D4A14A"/>
                </a:solidFill>
                <a:latin typeface="Georgia"/>
                <a:ea typeface="Georgia"/>
                <a:cs typeface="Georgia"/>
                <a:sym typeface="Georgia"/>
              </a:rPr>
              <a:t>Thank you  •  Questions?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2026-05-05T00:37:49Z</dcterms:created>
  <dc:creator>BUS 9430 Final Project</dc:creator>
</cp:coreProperties>
</file>